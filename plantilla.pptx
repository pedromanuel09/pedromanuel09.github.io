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380">
          <p15:clr>
            <a:srgbClr val="A4A3A4"/>
          </p15:clr>
        </p15:guide>
        <p15:guide id="2" pos="1649">
          <p15:clr>
            <a:srgbClr val="A4A3A4"/>
          </p15:clr>
        </p15:guide>
        <p15:guide id="3" pos="9609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2E6MqArFoVou3VQ9HqczNqps6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B1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6380"/>
        <p:guide pos="1649"/>
        <p:guide pos="96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ditomype.com/wp-content/uploads/2023/05/SBS-FINA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44430" y="0"/>
            <a:ext cx="18315134" cy="10287000"/>
          </a:xfrm>
          <a:custGeom>
            <a:avLst/>
            <a:gdLst/>
            <a:ahLst/>
            <a:cxnLst/>
            <a:rect l="l" t="t" r="r" b="b"/>
            <a:pathLst>
              <a:path w="18315134" h="10287000" extrusionOk="0">
                <a:moveTo>
                  <a:pt x="0" y="0"/>
                </a:moveTo>
                <a:lnTo>
                  <a:pt x="18315134" y="0"/>
                </a:lnTo>
                <a:lnTo>
                  <a:pt x="18315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85" name="Google Shape;85;p1"/>
          <p:cNvGrpSpPr/>
          <p:nvPr/>
        </p:nvGrpSpPr>
        <p:grpSpPr>
          <a:xfrm>
            <a:off x="1663223" y="5123603"/>
            <a:ext cx="6356312" cy="772469"/>
            <a:chOff x="0" y="-38100"/>
            <a:chExt cx="3655763" cy="50745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655763" cy="469359"/>
            </a:xfrm>
            <a:custGeom>
              <a:avLst/>
              <a:gdLst/>
              <a:ahLst/>
              <a:cxnLst/>
              <a:rect l="l" t="t" r="r" b="b"/>
              <a:pathLst>
                <a:path w="3655763" h="469359" extrusionOk="0">
                  <a:moveTo>
                    <a:pt x="3452563" y="0"/>
                  </a:moveTo>
                  <a:cubicBezTo>
                    <a:pt x="3564787" y="0"/>
                    <a:pt x="3655763" y="105070"/>
                    <a:pt x="3655763" y="234680"/>
                  </a:cubicBezTo>
                  <a:cubicBezTo>
                    <a:pt x="3655763" y="364290"/>
                    <a:pt x="3564787" y="469359"/>
                    <a:pt x="3452563" y="469359"/>
                  </a:cubicBezTo>
                  <a:lnTo>
                    <a:pt x="203200" y="469359"/>
                  </a:lnTo>
                  <a:cubicBezTo>
                    <a:pt x="90976" y="469359"/>
                    <a:pt x="0" y="364290"/>
                    <a:pt x="0" y="234680"/>
                  </a:cubicBezTo>
                  <a:cubicBezTo>
                    <a:pt x="0" y="1050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3655763" cy="507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663223" y="6006993"/>
            <a:ext cx="6257458" cy="714472"/>
          </a:xfrm>
          <a:custGeom>
            <a:avLst/>
            <a:gdLst/>
            <a:ahLst/>
            <a:cxnLst/>
            <a:rect l="l" t="t" r="r" b="b"/>
            <a:pathLst>
              <a:path w="3655763" h="469359" extrusionOk="0">
                <a:moveTo>
                  <a:pt x="3452563" y="0"/>
                </a:moveTo>
                <a:cubicBezTo>
                  <a:pt x="3564787" y="0"/>
                  <a:pt x="3655763" y="105070"/>
                  <a:pt x="3655763" y="234680"/>
                </a:cubicBezTo>
                <a:cubicBezTo>
                  <a:pt x="3655763" y="364290"/>
                  <a:pt x="3564787" y="469359"/>
                  <a:pt x="3452563" y="469359"/>
                </a:cubicBezTo>
                <a:lnTo>
                  <a:pt x="203200" y="469359"/>
                </a:lnTo>
                <a:cubicBezTo>
                  <a:pt x="90976" y="469359"/>
                  <a:pt x="0" y="364290"/>
                  <a:pt x="0" y="234680"/>
                </a:cubicBezTo>
                <a:cubicBezTo>
                  <a:pt x="0" y="105070"/>
                  <a:pt x="90976" y="0"/>
                  <a:pt x="203200" y="0"/>
                </a:cubicBezTo>
                <a:close/>
              </a:path>
            </a:pathLst>
          </a:custGeom>
          <a:solidFill>
            <a:srgbClr val="45B1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663223" y="7886099"/>
            <a:ext cx="2534735" cy="399703"/>
          </a:xfrm>
          <a:custGeom>
            <a:avLst/>
            <a:gdLst/>
            <a:ahLst/>
            <a:cxnLst/>
            <a:rect l="l" t="t" r="r" b="b"/>
            <a:pathLst>
              <a:path w="2534735" h="399703" extrusionOk="0">
                <a:moveTo>
                  <a:pt x="0" y="0"/>
                </a:moveTo>
                <a:lnTo>
                  <a:pt x="2534734" y="0"/>
                </a:lnTo>
                <a:lnTo>
                  <a:pt x="2534734" y="399704"/>
                </a:lnTo>
                <a:lnTo>
                  <a:pt x="0" y="399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2" name="Google Shape;92;p1"/>
          <p:cNvSpPr txBox="1"/>
          <p:nvPr/>
        </p:nvSpPr>
        <p:spPr>
          <a:xfrm>
            <a:off x="1663223" y="3991216"/>
            <a:ext cx="8548800" cy="97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3"/>
              <a:buFont typeface="Arial"/>
              <a:buNone/>
            </a:pPr>
            <a:r>
              <a:rPr lang="en-US" sz="5403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golian Baiti" panose="03000500000000000000" pitchFamily="66" charset="0"/>
                <a:sym typeface="Montserrat"/>
              </a:rPr>
              <a:t>de </a:t>
            </a:r>
            <a:r>
              <a:rPr lang="en-US" sz="5403" b="1" i="0" u="none" strike="noStrike" cap="none" dirty="0" err="1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golian Baiti" panose="03000500000000000000" pitchFamily="66" charset="0"/>
                <a:sym typeface="Montserrat"/>
              </a:rPr>
              <a:t>inversión</a:t>
            </a:r>
            <a:r>
              <a:rPr lang="en-US" sz="5403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golian Baiti" panose="03000500000000000000" pitchFamily="66" charset="0"/>
                <a:sym typeface="Montserrat"/>
              </a:rPr>
              <a:t/>
            </a:r>
            <a:r>
              <a:rPr lang="en-US" sz="5403" b="1" i="0" u="none" strike="noStrike" cap="none" dirty="0">
                <a:solidFill>
                  <a:srgbClr val="45B17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#</a:t>
            </a:r>
            <a:r>
              <a:rPr lang="es-PE" sz="7200" dirty="0">
                <a:solidFill>
                  <a:schemeClr val="bg1"/>
                </a:solidFill>
                <a:latin typeface="Montserrat" panose="00000500000000000000" pitchFamily="2" charset="0"/>
              </a:rPr>
              <a:t>{{OP}}</a:t>
            </a:r>
            <a:endParaRPr sz="5403" b="1" i="0" u="none" strike="noStrike" cap="none" dirty="0">
              <a:solidFill>
                <a:schemeClr val="bg1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63223" y="3006865"/>
            <a:ext cx="8076294" cy="104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1"/>
              <a:buFont typeface="Arial"/>
              <a:buNone/>
            </a:pPr>
            <a:r>
              <a:rPr lang="en-US" sz="7731" b="1" i="0" u="none" strike="noStrike" cap="none" dirty="0" err="1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golian Baiti" panose="03000500000000000000" pitchFamily="66" charset="0"/>
                <a:sym typeface="Montserrat"/>
              </a:rPr>
              <a:t>Oportunidad</a:t>
            </a:r>
            <a:endParaRPr sz="14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cs typeface="Mongolian Baiti" panose="03000500000000000000" pitchFamily="66" charset="0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922023" y="5269531"/>
            <a:ext cx="578110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MONTO DE INVERSIÓN: </a:t>
            </a:r>
            <a:r>
              <a:rPr lang="es-PE" sz="2800" dirty="0">
                <a:solidFill>
                  <a:schemeClr val="bg1"/>
                </a:solidFill>
                <a:latin typeface="Montserrat" panose="00000500000000000000" pitchFamily="2" charset="0"/>
              </a:rPr>
              <a:t>{{MONTO}}</a:t>
            </a:r>
            <a:endParaRPr sz="2000" b="0" i="0" u="none" strike="noStrike" cap="none" dirty="0">
              <a:solidFill>
                <a:schemeClr val="bg1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2" name="Google Shape;137;p2">
            <a:extLst>
              <a:ext uri="{FF2B5EF4-FFF2-40B4-BE49-F238E27FC236}">
                <a16:creationId xmlns:a16="http://schemas.microsoft.com/office/drawing/2014/main" id="{4EB6BF30-9326-D558-51EA-32E07EC2C1A8}"/>
              </a:ext>
            </a:extLst>
          </p:cNvPr>
          <p:cNvSpPr txBox="1"/>
          <p:nvPr/>
        </p:nvSpPr>
        <p:spPr>
          <a:xfrm>
            <a:off x="3164519" y="6154389"/>
            <a:ext cx="30468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6651788" y="3024325"/>
            <a:ext cx="4992600" cy="4992600"/>
          </a:xfrm>
          <a:prstGeom prst="ellipse">
            <a:avLst/>
          </a:prstGeom>
          <a:noFill/>
          <a:ln w="9525" cap="flat" cmpd="sng">
            <a:solidFill>
              <a:srgbClr val="99999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435027" y="2747270"/>
            <a:ext cx="4181832" cy="589031"/>
            <a:chOff x="0" y="-38100"/>
            <a:chExt cx="4165248" cy="586695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165248" cy="548595"/>
            </a:xfrm>
            <a:custGeom>
              <a:avLst/>
              <a:gdLst/>
              <a:ahLst/>
              <a:cxnLst/>
              <a:rect l="l" t="t" r="r" b="b"/>
              <a:pathLst>
                <a:path w="4165248" h="548595" extrusionOk="0">
                  <a:moveTo>
                    <a:pt x="3962048" y="0"/>
                  </a:moveTo>
                  <a:cubicBezTo>
                    <a:pt x="4074272" y="0"/>
                    <a:pt x="4165248" y="122807"/>
                    <a:pt x="4165248" y="274297"/>
                  </a:cubicBezTo>
                  <a:cubicBezTo>
                    <a:pt x="4165248" y="425788"/>
                    <a:pt x="4074272" y="548595"/>
                    <a:pt x="3962048" y="548595"/>
                  </a:cubicBezTo>
                  <a:lnTo>
                    <a:pt x="203200" y="548595"/>
                  </a:lnTo>
                  <a:cubicBezTo>
                    <a:pt x="90976" y="548595"/>
                    <a:pt x="0" y="425788"/>
                    <a:pt x="0" y="274297"/>
                  </a:cubicBezTo>
                  <a:cubicBezTo>
                    <a:pt x="0" y="12280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38100"/>
              <a:ext cx="4165248" cy="5866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435027" y="4611153"/>
            <a:ext cx="4181909" cy="612053"/>
            <a:chOff x="0" y="-38100"/>
            <a:chExt cx="4165248" cy="609615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4165248" cy="571515"/>
            </a:xfrm>
            <a:custGeom>
              <a:avLst/>
              <a:gdLst/>
              <a:ahLst/>
              <a:cxnLst/>
              <a:rect l="l" t="t" r="r" b="b"/>
              <a:pathLst>
                <a:path w="4165248" h="571515" extrusionOk="0">
                  <a:moveTo>
                    <a:pt x="3962048" y="0"/>
                  </a:moveTo>
                  <a:cubicBezTo>
                    <a:pt x="4074272" y="0"/>
                    <a:pt x="4165248" y="127938"/>
                    <a:pt x="4165248" y="285758"/>
                  </a:cubicBezTo>
                  <a:cubicBezTo>
                    <a:pt x="4165248" y="443577"/>
                    <a:pt x="4074272" y="571515"/>
                    <a:pt x="3962048" y="571515"/>
                  </a:cubicBezTo>
                  <a:lnTo>
                    <a:pt x="203200" y="571515"/>
                  </a:lnTo>
                  <a:cubicBezTo>
                    <a:pt x="90976" y="571515"/>
                    <a:pt x="0" y="443577"/>
                    <a:pt x="0" y="285758"/>
                  </a:cubicBezTo>
                  <a:cubicBezTo>
                    <a:pt x="0" y="1279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4165248" cy="609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2852902" y="2750653"/>
            <a:ext cx="4181909" cy="612053"/>
            <a:chOff x="0" y="-38100"/>
            <a:chExt cx="4165248" cy="609615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4165248" cy="571515"/>
            </a:xfrm>
            <a:custGeom>
              <a:avLst/>
              <a:gdLst/>
              <a:ahLst/>
              <a:cxnLst/>
              <a:rect l="l" t="t" r="r" b="b"/>
              <a:pathLst>
                <a:path w="4165248" h="571515" extrusionOk="0">
                  <a:moveTo>
                    <a:pt x="3962048" y="0"/>
                  </a:moveTo>
                  <a:cubicBezTo>
                    <a:pt x="4074272" y="0"/>
                    <a:pt x="4165248" y="127938"/>
                    <a:pt x="4165248" y="285758"/>
                  </a:cubicBezTo>
                  <a:cubicBezTo>
                    <a:pt x="4165248" y="443577"/>
                    <a:pt x="4074272" y="571515"/>
                    <a:pt x="3962048" y="571515"/>
                  </a:cubicBezTo>
                  <a:lnTo>
                    <a:pt x="203200" y="571515"/>
                  </a:lnTo>
                  <a:cubicBezTo>
                    <a:pt x="90976" y="571515"/>
                    <a:pt x="0" y="443577"/>
                    <a:pt x="0" y="285758"/>
                  </a:cubicBezTo>
                  <a:cubicBezTo>
                    <a:pt x="0" y="1279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38100"/>
              <a:ext cx="4165248" cy="609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2981975" y="5651776"/>
            <a:ext cx="3893567" cy="576311"/>
            <a:chOff x="0" y="-38100"/>
            <a:chExt cx="4601781" cy="660075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4601781" cy="621975"/>
            </a:xfrm>
            <a:custGeom>
              <a:avLst/>
              <a:gdLst/>
              <a:ahLst/>
              <a:cxnLst/>
              <a:rect l="l" t="t" r="r" b="b"/>
              <a:pathLst>
                <a:path w="4601781" h="621975" extrusionOk="0">
                  <a:moveTo>
                    <a:pt x="4398581" y="0"/>
                  </a:moveTo>
                  <a:cubicBezTo>
                    <a:pt x="4510805" y="0"/>
                    <a:pt x="4601781" y="139234"/>
                    <a:pt x="4601781" y="310987"/>
                  </a:cubicBezTo>
                  <a:cubicBezTo>
                    <a:pt x="4601781" y="482741"/>
                    <a:pt x="4510805" y="621975"/>
                    <a:pt x="4398581" y="621975"/>
                  </a:cubicBezTo>
                  <a:lnTo>
                    <a:pt x="203200" y="621975"/>
                  </a:lnTo>
                  <a:cubicBezTo>
                    <a:pt x="90976" y="621975"/>
                    <a:pt x="0" y="482741"/>
                    <a:pt x="0" y="310987"/>
                  </a:cubicBezTo>
                  <a:cubicBezTo>
                    <a:pt x="0" y="1392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38100"/>
              <a:ext cx="4601781" cy="6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59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 rot="8430059">
            <a:off x="15630361" y="-866015"/>
            <a:ext cx="2424245" cy="4764013"/>
          </a:xfrm>
          <a:custGeom>
            <a:avLst/>
            <a:gdLst/>
            <a:ahLst/>
            <a:cxnLst/>
            <a:rect l="l" t="t" r="r" b="b"/>
            <a:pathLst>
              <a:path w="2424245" h="4764013" extrusionOk="0">
                <a:moveTo>
                  <a:pt x="0" y="0"/>
                </a:moveTo>
                <a:lnTo>
                  <a:pt x="2424245" y="0"/>
                </a:lnTo>
                <a:lnTo>
                  <a:pt x="2424245" y="4764012"/>
                </a:lnTo>
                <a:lnTo>
                  <a:pt x="0" y="4764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114" name="Google Shape;114;p2"/>
          <p:cNvGrpSpPr/>
          <p:nvPr/>
        </p:nvGrpSpPr>
        <p:grpSpPr>
          <a:xfrm>
            <a:off x="-50" y="-52175"/>
            <a:ext cx="18288067" cy="576324"/>
            <a:chOff x="0" y="0"/>
            <a:chExt cx="5189429" cy="15178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5189429" cy="151788"/>
            </a:xfrm>
            <a:custGeom>
              <a:avLst/>
              <a:gdLst/>
              <a:ahLst/>
              <a:cxnLst/>
              <a:rect l="l" t="t" r="r" b="b"/>
              <a:pathLst>
                <a:path w="5189429" h="151788" extrusionOk="0">
                  <a:moveTo>
                    <a:pt x="0" y="0"/>
                  </a:moveTo>
                  <a:lnTo>
                    <a:pt x="5189429" y="0"/>
                  </a:lnTo>
                  <a:lnTo>
                    <a:pt x="5189429" y="151788"/>
                  </a:lnTo>
                  <a:lnTo>
                    <a:pt x="0" y="151788"/>
                  </a:ln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38100"/>
              <a:ext cx="5189429" cy="1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1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 rot="-3409566">
            <a:off x="4383" y="6397823"/>
            <a:ext cx="2425654" cy="4766781"/>
          </a:xfrm>
          <a:custGeom>
            <a:avLst/>
            <a:gdLst/>
            <a:ahLst/>
            <a:cxnLst/>
            <a:rect l="l" t="t" r="r" b="b"/>
            <a:pathLst>
              <a:path w="2424245" h="4764013" extrusionOk="0">
                <a:moveTo>
                  <a:pt x="0" y="0"/>
                </a:moveTo>
                <a:lnTo>
                  <a:pt x="2424245" y="0"/>
                </a:lnTo>
                <a:lnTo>
                  <a:pt x="2424245" y="4764013"/>
                </a:lnTo>
                <a:lnTo>
                  <a:pt x="0" y="4764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118" name="Google Shape;118;p2"/>
          <p:cNvGrpSpPr/>
          <p:nvPr/>
        </p:nvGrpSpPr>
        <p:grpSpPr>
          <a:xfrm>
            <a:off x="1215891" y="6619144"/>
            <a:ext cx="4620103" cy="662703"/>
            <a:chOff x="0" y="-38100"/>
            <a:chExt cx="4601781" cy="660075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4601781" cy="621975"/>
            </a:xfrm>
            <a:custGeom>
              <a:avLst/>
              <a:gdLst/>
              <a:ahLst/>
              <a:cxnLst/>
              <a:rect l="l" t="t" r="r" b="b"/>
              <a:pathLst>
                <a:path w="4601781" h="621975" extrusionOk="0">
                  <a:moveTo>
                    <a:pt x="4398581" y="0"/>
                  </a:moveTo>
                  <a:cubicBezTo>
                    <a:pt x="4510805" y="0"/>
                    <a:pt x="4601781" y="139234"/>
                    <a:pt x="4601781" y="310987"/>
                  </a:cubicBezTo>
                  <a:cubicBezTo>
                    <a:pt x="4601781" y="482741"/>
                    <a:pt x="4510805" y="621975"/>
                    <a:pt x="4398581" y="621975"/>
                  </a:cubicBezTo>
                  <a:lnTo>
                    <a:pt x="203200" y="621975"/>
                  </a:lnTo>
                  <a:cubicBezTo>
                    <a:pt x="90976" y="621975"/>
                    <a:pt x="0" y="482741"/>
                    <a:pt x="0" y="310987"/>
                  </a:cubicBezTo>
                  <a:cubicBezTo>
                    <a:pt x="0" y="1392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38100"/>
              <a:ext cx="4601781" cy="660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1323925" y="6834488"/>
            <a:ext cx="4485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CAPACIDAD DE PAGO MENSUAL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60727" y="1469287"/>
            <a:ext cx="9166546" cy="45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PERFIL DEL HIPOTECARIO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459377" y="2907401"/>
            <a:ext cx="207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NOMBRE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2114726" y="4767525"/>
            <a:ext cx="291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GIRO DEL NEGOCIO 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3264575" y="2956525"/>
            <a:ext cx="34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MÓTIVO DEL PRÉSTAMO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3030544" y="5807025"/>
            <a:ext cx="389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OCUPACIÓN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520183" y="5494154"/>
            <a:ext cx="4096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{{GIRO}}</a:t>
            </a:r>
            <a:endParaRPr sz="2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277451" y="7548485"/>
            <a:ext cx="4204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{{CAPACIDAD_PAGO}}</a:t>
            </a:r>
            <a:endParaRPr sz="18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2856516" y="3782771"/>
            <a:ext cx="4096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2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C2D52"/>
                </a:solidFill>
                <a:latin typeface="Montserrat"/>
                <a:ea typeface="Montserrat"/>
                <a:cs typeface="Montserrat"/>
                <a:sym typeface="Montserrat"/>
              </a:rPr>
              <a:t>{{MOTIVO_PRESTAMO}}</a:t>
            </a:r>
            <a:endParaRPr sz="2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2810323" y="6475747"/>
            <a:ext cx="4096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C2D52"/>
                </a:solidFill>
                <a:latin typeface="Montserrat"/>
                <a:ea typeface="Montserrat"/>
                <a:cs typeface="Montserrat"/>
                <a:sym typeface="Montserrat"/>
              </a:rPr>
              <a:t>{{OCUPACION}}</a:t>
            </a:r>
            <a:endParaRPr sz="2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647418" y="3024314"/>
            <a:ext cx="4992624" cy="499262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7834" t="-54687" r="-232539" b="-93034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0" y="9461426"/>
            <a:ext cx="18285748" cy="825809"/>
          </a:xfrm>
          <a:custGeom>
            <a:avLst/>
            <a:gdLst/>
            <a:ahLst/>
            <a:cxnLst/>
            <a:rect l="l" t="t" r="r" b="b"/>
            <a:pathLst>
              <a:path w="4958847" h="223041" extrusionOk="0">
                <a:moveTo>
                  <a:pt x="0" y="0"/>
                </a:moveTo>
                <a:lnTo>
                  <a:pt x="4958847" y="0"/>
                </a:lnTo>
                <a:lnTo>
                  <a:pt x="4958847" y="223041"/>
                </a:lnTo>
                <a:lnTo>
                  <a:pt x="0" y="223041"/>
                </a:ln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Google Shape;134;p2"/>
          <p:cNvSpPr txBox="1"/>
          <p:nvPr/>
        </p:nvSpPr>
        <p:spPr>
          <a:xfrm>
            <a:off x="457726" y="9720921"/>
            <a:ext cx="26865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Monto de inversión: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886037" y="9732240"/>
            <a:ext cx="2633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Esquemas y plazos: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3226637" y="9728064"/>
            <a:ext cx="1728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{{MONTO}}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9519069" y="9728652"/>
            <a:ext cx="30468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15048227" y="9732250"/>
            <a:ext cx="24027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@Creditomype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-6562770" y="6339239"/>
            <a:ext cx="4992624" cy="499262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7820" t="-54687" r="-232514" b="-9302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5">
            <a:alphaModFix/>
          </a:blip>
          <a:srcRect l="23710" r="2193" b="24545"/>
          <a:stretch/>
        </p:blipFill>
        <p:spPr>
          <a:xfrm>
            <a:off x="-6441150" y="5988663"/>
            <a:ext cx="4900800" cy="499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6">
            <a:alphaModFix/>
          </a:blip>
          <a:srcRect l="26610" t="8390" r="3119" b="20017"/>
          <a:stretch/>
        </p:blipFill>
        <p:spPr>
          <a:xfrm>
            <a:off x="-6477375" y="5470213"/>
            <a:ext cx="4900800" cy="4992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7">
            <a:alphaModFix/>
          </a:blip>
          <a:srcRect l="20572" r="7644" b="26873"/>
          <a:stretch/>
        </p:blipFill>
        <p:spPr>
          <a:xfrm>
            <a:off x="-6477375" y="4853088"/>
            <a:ext cx="4900800" cy="4992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8">
            <a:alphaModFix/>
          </a:blip>
          <a:srcRect l="48680" t="10786" r="8948" b="46048"/>
          <a:stretch/>
        </p:blipFill>
        <p:spPr>
          <a:xfrm>
            <a:off x="-6441150" y="4131991"/>
            <a:ext cx="4900800" cy="4992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9">
            <a:alphaModFix/>
          </a:blip>
          <a:srcRect l="16789" t="8086" r="11427" b="19254"/>
          <a:stretch/>
        </p:blipFill>
        <p:spPr>
          <a:xfrm>
            <a:off x="-6562762" y="3935938"/>
            <a:ext cx="4992600" cy="5053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10">
            <a:alphaModFix/>
          </a:blip>
          <a:srcRect l="17675" t="2706" b="14271"/>
          <a:stretch/>
        </p:blipFill>
        <p:spPr>
          <a:xfrm>
            <a:off x="-6329525" y="2730525"/>
            <a:ext cx="4992600" cy="503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11">
            <a:alphaModFix/>
          </a:blip>
          <a:srcRect t="2665" r="22588" b="20311"/>
          <a:stretch/>
        </p:blipFill>
        <p:spPr>
          <a:xfrm>
            <a:off x="-6356294" y="1984094"/>
            <a:ext cx="4992600" cy="4967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12">
            <a:alphaModFix/>
          </a:blip>
          <a:srcRect l="11114" t="8806" r="5628" b="7957"/>
          <a:stretch/>
        </p:blipFill>
        <p:spPr>
          <a:xfrm>
            <a:off x="-6329525" y="845463"/>
            <a:ext cx="4992600" cy="499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13">
            <a:alphaModFix/>
          </a:blip>
          <a:srcRect l="27756" t="8690" r="13273" b="31622"/>
          <a:stretch/>
        </p:blipFill>
        <p:spPr>
          <a:xfrm>
            <a:off x="-6523275" y="59788"/>
            <a:ext cx="4992600" cy="5053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14">
            <a:alphaModFix/>
          </a:blip>
          <a:srcRect l="24100" t="14865" r="8672" b="17097"/>
          <a:stretch/>
        </p:blipFill>
        <p:spPr>
          <a:xfrm>
            <a:off x="-6319059" y="-159239"/>
            <a:ext cx="4992600" cy="5053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15">
            <a:alphaModFix/>
          </a:blip>
          <a:srcRect l="6591" t="1508" r="3609" b="8692"/>
          <a:stretch/>
        </p:blipFill>
        <p:spPr>
          <a:xfrm>
            <a:off x="-6151677" y="-2805702"/>
            <a:ext cx="5317200" cy="531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B79757-A2C7-4DC5-9A76-829977391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183" y="3459605"/>
            <a:ext cx="37896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{{NOMBRE}}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3"/>
          <p:cNvGrpSpPr/>
          <p:nvPr/>
        </p:nvGrpSpPr>
        <p:grpSpPr>
          <a:xfrm>
            <a:off x="14570500" y="4743161"/>
            <a:ext cx="3084636" cy="900587"/>
            <a:chOff x="0" y="-38100"/>
            <a:chExt cx="891668" cy="238200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891668" cy="200059"/>
            </a:xfrm>
            <a:custGeom>
              <a:avLst/>
              <a:gdLst/>
              <a:ahLst/>
              <a:cxnLst/>
              <a:rect l="l" t="t" r="r" b="b"/>
              <a:pathLst>
                <a:path w="891668" h="200059" extrusionOk="0">
                  <a:moveTo>
                    <a:pt x="100030" y="0"/>
                  </a:moveTo>
                  <a:lnTo>
                    <a:pt x="791638" y="0"/>
                  </a:lnTo>
                  <a:cubicBezTo>
                    <a:pt x="818168" y="0"/>
                    <a:pt x="843611" y="10539"/>
                    <a:pt x="862370" y="29298"/>
                  </a:cubicBezTo>
                  <a:cubicBezTo>
                    <a:pt x="881129" y="48057"/>
                    <a:pt x="891668" y="73500"/>
                    <a:pt x="891668" y="100030"/>
                  </a:cubicBezTo>
                  <a:lnTo>
                    <a:pt x="891668" y="100030"/>
                  </a:lnTo>
                  <a:cubicBezTo>
                    <a:pt x="891668" y="155275"/>
                    <a:pt x="846883" y="200059"/>
                    <a:pt x="791638" y="200059"/>
                  </a:cubicBezTo>
                  <a:lnTo>
                    <a:pt x="100030" y="200059"/>
                  </a:lnTo>
                  <a:cubicBezTo>
                    <a:pt x="73500" y="200059"/>
                    <a:pt x="48057" y="189521"/>
                    <a:pt x="29298" y="170761"/>
                  </a:cubicBezTo>
                  <a:cubicBezTo>
                    <a:pt x="10539" y="152002"/>
                    <a:pt x="0" y="126559"/>
                    <a:pt x="0" y="100030"/>
                  </a:cubicBezTo>
                  <a:lnTo>
                    <a:pt x="0" y="100030"/>
                  </a:lnTo>
                  <a:cubicBezTo>
                    <a:pt x="0" y="73500"/>
                    <a:pt x="10539" y="48057"/>
                    <a:pt x="29298" y="29298"/>
                  </a:cubicBezTo>
                  <a:cubicBezTo>
                    <a:pt x="48057" y="10539"/>
                    <a:pt x="73500" y="0"/>
                    <a:pt x="10003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0" y="-38100"/>
              <a:ext cx="891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14282550" y="0"/>
            <a:ext cx="3642034" cy="10281836"/>
          </a:xfrm>
          <a:custGeom>
            <a:avLst/>
            <a:gdLst/>
            <a:ahLst/>
            <a:cxnLst/>
            <a:rect l="l" t="t" r="r" b="b"/>
            <a:pathLst>
              <a:path w="959061" h="2529357" extrusionOk="0">
                <a:moveTo>
                  <a:pt x="0" y="0"/>
                </a:moveTo>
                <a:lnTo>
                  <a:pt x="959061" y="0"/>
                </a:lnTo>
                <a:lnTo>
                  <a:pt x="959061" y="2529357"/>
                </a:lnTo>
                <a:lnTo>
                  <a:pt x="0" y="2529357"/>
                </a:lnTo>
                <a:close/>
              </a:path>
            </a:pathLst>
          </a:custGeom>
          <a:solidFill>
            <a:srgbClr val="45B17F">
              <a:alpha val="19215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9" name="Google Shape;159;p3"/>
          <p:cNvSpPr/>
          <p:nvPr/>
        </p:nvSpPr>
        <p:spPr>
          <a:xfrm>
            <a:off x="374200" y="0"/>
            <a:ext cx="4490893" cy="10283945"/>
          </a:xfrm>
          <a:custGeom>
            <a:avLst/>
            <a:gdLst/>
            <a:ahLst/>
            <a:cxnLst/>
            <a:rect l="l" t="t" r="r" b="b"/>
            <a:pathLst>
              <a:path w="1182592" h="2844798" extrusionOk="0">
                <a:moveTo>
                  <a:pt x="0" y="0"/>
                </a:moveTo>
                <a:lnTo>
                  <a:pt x="1182592" y="0"/>
                </a:lnTo>
                <a:lnTo>
                  <a:pt x="1182592" y="2844798"/>
                </a:lnTo>
                <a:lnTo>
                  <a:pt x="0" y="2844798"/>
                </a:lnTo>
                <a:close/>
              </a:path>
            </a:pathLst>
          </a:custGeom>
          <a:solidFill>
            <a:srgbClr val="45B17F">
              <a:alpha val="19215"/>
            </a:srgbClr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0" name="Google Shape;160;p3"/>
          <p:cNvSpPr/>
          <p:nvPr/>
        </p:nvSpPr>
        <p:spPr>
          <a:xfrm>
            <a:off x="666700" y="2384361"/>
            <a:ext cx="3864108" cy="444718"/>
          </a:xfrm>
          <a:custGeom>
            <a:avLst/>
            <a:gdLst/>
            <a:ahLst/>
            <a:cxnLst/>
            <a:rect l="l" t="t" r="r" b="b"/>
            <a:pathLst>
              <a:path w="4726738" h="469359" extrusionOk="0">
                <a:moveTo>
                  <a:pt x="4523538" y="0"/>
                </a:moveTo>
                <a:cubicBezTo>
                  <a:pt x="4635763" y="0"/>
                  <a:pt x="4726738" y="105070"/>
                  <a:pt x="4726738" y="234680"/>
                </a:cubicBezTo>
                <a:cubicBezTo>
                  <a:pt x="4726738" y="364290"/>
                  <a:pt x="4635763" y="469359"/>
                  <a:pt x="4523538" y="469359"/>
                </a:cubicBezTo>
                <a:lnTo>
                  <a:pt x="203200" y="469359"/>
                </a:lnTo>
                <a:cubicBezTo>
                  <a:pt x="90976" y="469359"/>
                  <a:pt x="0" y="364290"/>
                  <a:pt x="0" y="234680"/>
                </a:cubicBezTo>
                <a:cubicBezTo>
                  <a:pt x="0" y="105070"/>
                  <a:pt x="90976" y="0"/>
                  <a:pt x="203200" y="0"/>
                </a:cubicBez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3"/>
          <p:cNvGrpSpPr/>
          <p:nvPr/>
        </p:nvGrpSpPr>
        <p:grpSpPr>
          <a:xfrm>
            <a:off x="666700" y="3316626"/>
            <a:ext cx="3865526" cy="480614"/>
            <a:chOff x="0" y="-38100"/>
            <a:chExt cx="4726738" cy="507459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4726738" cy="469359"/>
            </a:xfrm>
            <a:custGeom>
              <a:avLst/>
              <a:gdLst/>
              <a:ahLst/>
              <a:cxnLst/>
              <a:rect l="l" t="t" r="r" b="b"/>
              <a:pathLst>
                <a:path w="4726738" h="469359" extrusionOk="0">
                  <a:moveTo>
                    <a:pt x="4523538" y="0"/>
                  </a:moveTo>
                  <a:cubicBezTo>
                    <a:pt x="4635763" y="0"/>
                    <a:pt x="4726738" y="105070"/>
                    <a:pt x="4726738" y="234680"/>
                  </a:cubicBezTo>
                  <a:cubicBezTo>
                    <a:pt x="4726738" y="364290"/>
                    <a:pt x="4635763" y="469359"/>
                    <a:pt x="4523538" y="469359"/>
                  </a:cubicBezTo>
                  <a:lnTo>
                    <a:pt x="203200" y="469359"/>
                  </a:lnTo>
                  <a:cubicBezTo>
                    <a:pt x="90976" y="469359"/>
                    <a:pt x="0" y="364290"/>
                    <a:pt x="0" y="234680"/>
                  </a:cubicBezTo>
                  <a:cubicBezTo>
                    <a:pt x="0" y="1050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0" y="-38100"/>
              <a:ext cx="4726738" cy="507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3"/>
          <p:cNvGrpSpPr/>
          <p:nvPr/>
        </p:nvGrpSpPr>
        <p:grpSpPr>
          <a:xfrm>
            <a:off x="666701" y="4471938"/>
            <a:ext cx="3865678" cy="480660"/>
            <a:chOff x="0" y="-38100"/>
            <a:chExt cx="4726738" cy="587725"/>
          </a:xfrm>
        </p:grpSpPr>
        <p:sp>
          <p:nvSpPr>
            <p:cNvPr id="165" name="Google Shape;165;p3"/>
            <p:cNvSpPr/>
            <p:nvPr/>
          </p:nvSpPr>
          <p:spPr>
            <a:xfrm>
              <a:off x="0" y="0"/>
              <a:ext cx="4726738" cy="549625"/>
            </a:xfrm>
            <a:custGeom>
              <a:avLst/>
              <a:gdLst/>
              <a:ahLst/>
              <a:cxnLst/>
              <a:rect l="l" t="t" r="r" b="b"/>
              <a:pathLst>
                <a:path w="4726738" h="549625" extrusionOk="0">
                  <a:moveTo>
                    <a:pt x="4523538" y="0"/>
                  </a:moveTo>
                  <a:cubicBezTo>
                    <a:pt x="4635763" y="0"/>
                    <a:pt x="4726738" y="123038"/>
                    <a:pt x="4726738" y="274812"/>
                  </a:cubicBezTo>
                  <a:cubicBezTo>
                    <a:pt x="4726738" y="426587"/>
                    <a:pt x="4635763" y="549625"/>
                    <a:pt x="4523538" y="549625"/>
                  </a:cubicBezTo>
                  <a:lnTo>
                    <a:pt x="203200" y="549625"/>
                  </a:lnTo>
                  <a:cubicBezTo>
                    <a:pt x="90976" y="549625"/>
                    <a:pt x="0" y="426587"/>
                    <a:pt x="0" y="274812"/>
                  </a:cubicBezTo>
                  <a:cubicBezTo>
                    <a:pt x="0" y="1230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0" y="-38100"/>
              <a:ext cx="4726738" cy="587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3"/>
          <p:cNvGrpSpPr/>
          <p:nvPr/>
        </p:nvGrpSpPr>
        <p:grpSpPr>
          <a:xfrm>
            <a:off x="706060" y="5740763"/>
            <a:ext cx="3865678" cy="428513"/>
            <a:chOff x="0" y="-38100"/>
            <a:chExt cx="4726738" cy="523963"/>
          </a:xfrm>
        </p:grpSpPr>
        <p:sp>
          <p:nvSpPr>
            <p:cNvPr id="168" name="Google Shape;168;p3"/>
            <p:cNvSpPr/>
            <p:nvPr/>
          </p:nvSpPr>
          <p:spPr>
            <a:xfrm>
              <a:off x="0" y="0"/>
              <a:ext cx="4726738" cy="485863"/>
            </a:xfrm>
            <a:custGeom>
              <a:avLst/>
              <a:gdLst/>
              <a:ahLst/>
              <a:cxnLst/>
              <a:rect l="l" t="t" r="r" b="b"/>
              <a:pathLst>
                <a:path w="4726738" h="485863" extrusionOk="0">
                  <a:moveTo>
                    <a:pt x="4523538" y="0"/>
                  </a:moveTo>
                  <a:cubicBezTo>
                    <a:pt x="4635763" y="0"/>
                    <a:pt x="4726738" y="108764"/>
                    <a:pt x="4726738" y="242931"/>
                  </a:cubicBezTo>
                  <a:cubicBezTo>
                    <a:pt x="4726738" y="377099"/>
                    <a:pt x="4635763" y="485863"/>
                    <a:pt x="4523538" y="485863"/>
                  </a:cubicBezTo>
                  <a:lnTo>
                    <a:pt x="203200" y="485863"/>
                  </a:lnTo>
                  <a:cubicBezTo>
                    <a:pt x="90976" y="485863"/>
                    <a:pt x="0" y="377099"/>
                    <a:pt x="0" y="242931"/>
                  </a:cubicBezTo>
                  <a:cubicBezTo>
                    <a:pt x="0" y="1087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0" y="-38100"/>
              <a:ext cx="4726738" cy="523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3"/>
          <p:cNvGrpSpPr/>
          <p:nvPr/>
        </p:nvGrpSpPr>
        <p:grpSpPr>
          <a:xfrm>
            <a:off x="706050" y="6788048"/>
            <a:ext cx="3865526" cy="428498"/>
            <a:chOff x="0" y="-38100"/>
            <a:chExt cx="4726738" cy="507459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4726738" cy="469359"/>
            </a:xfrm>
            <a:custGeom>
              <a:avLst/>
              <a:gdLst/>
              <a:ahLst/>
              <a:cxnLst/>
              <a:rect l="l" t="t" r="r" b="b"/>
              <a:pathLst>
                <a:path w="4726738" h="469359" extrusionOk="0">
                  <a:moveTo>
                    <a:pt x="4523538" y="0"/>
                  </a:moveTo>
                  <a:cubicBezTo>
                    <a:pt x="4635763" y="0"/>
                    <a:pt x="4726738" y="105070"/>
                    <a:pt x="4726738" y="234680"/>
                  </a:cubicBezTo>
                  <a:cubicBezTo>
                    <a:pt x="4726738" y="364290"/>
                    <a:pt x="4635763" y="469359"/>
                    <a:pt x="4523538" y="469359"/>
                  </a:cubicBezTo>
                  <a:lnTo>
                    <a:pt x="203200" y="469359"/>
                  </a:lnTo>
                  <a:cubicBezTo>
                    <a:pt x="90976" y="469359"/>
                    <a:pt x="0" y="364290"/>
                    <a:pt x="0" y="234680"/>
                  </a:cubicBezTo>
                  <a:cubicBezTo>
                    <a:pt x="0" y="1050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0" y="-38100"/>
              <a:ext cx="4726738" cy="507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706050" y="7734875"/>
            <a:ext cx="3865526" cy="480627"/>
            <a:chOff x="0" y="-38100"/>
            <a:chExt cx="4726738" cy="610398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4726738" cy="572298"/>
            </a:xfrm>
            <a:custGeom>
              <a:avLst/>
              <a:gdLst/>
              <a:ahLst/>
              <a:cxnLst/>
              <a:rect l="l" t="t" r="r" b="b"/>
              <a:pathLst>
                <a:path w="4726738" h="572298" extrusionOk="0">
                  <a:moveTo>
                    <a:pt x="4523538" y="0"/>
                  </a:moveTo>
                  <a:cubicBezTo>
                    <a:pt x="4635763" y="0"/>
                    <a:pt x="4726738" y="128113"/>
                    <a:pt x="4726738" y="286149"/>
                  </a:cubicBezTo>
                  <a:cubicBezTo>
                    <a:pt x="4726738" y="444184"/>
                    <a:pt x="4635763" y="572298"/>
                    <a:pt x="4523538" y="572298"/>
                  </a:cubicBezTo>
                  <a:lnTo>
                    <a:pt x="203200" y="572298"/>
                  </a:lnTo>
                  <a:cubicBezTo>
                    <a:pt x="90976" y="572298"/>
                    <a:pt x="0" y="444184"/>
                    <a:pt x="0" y="286149"/>
                  </a:cubicBezTo>
                  <a:cubicBezTo>
                    <a:pt x="0" y="12811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0" y="-38100"/>
              <a:ext cx="4726738" cy="610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125" tIns="61125" rIns="61125" bIns="61125" anchor="ctr" anchorCtr="0">
              <a:noAutofit/>
            </a:bodyPr>
            <a:lstStyle/>
            <a:p>
              <a:pPr marL="0" marR="0" lvl="0" indent="0" algn="ctr" rtl="0">
                <a:lnSpc>
                  <a:spcPct val="167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3"/>
          <p:cNvSpPr txBox="1"/>
          <p:nvPr/>
        </p:nvSpPr>
        <p:spPr>
          <a:xfrm>
            <a:off x="1835132" y="2442379"/>
            <a:ext cx="14907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DISTRITO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042670" y="3422491"/>
            <a:ext cx="31137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TIPO DE INMUEBLE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726199" y="4581638"/>
            <a:ext cx="37869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ÁREA DE LA PROPIEDAD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745419" y="2881370"/>
            <a:ext cx="37869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{{DISTRITO}}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706060" y="3918631"/>
            <a:ext cx="37869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{{TIPO_INMUEBLE}}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889205" y="5113544"/>
            <a:ext cx="3382500" cy="48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PE" sz="25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{{AREA}}</a:t>
            </a:r>
            <a:endParaRPr sz="25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879157" y="5839605"/>
            <a:ext cx="35196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RATIO DE PRESTAMO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879157" y="6863782"/>
            <a:ext cx="34506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CARGA O GRAVAMEN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666701" y="6331201"/>
            <a:ext cx="37869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{{RATIO}}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706060" y="7343449"/>
            <a:ext cx="3786900" cy="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8"/>
              <a:buFont typeface="Arial"/>
              <a:buNone/>
            </a:pPr>
            <a:r>
              <a:rPr lang="en-US" sz="2008" b="0" i="0" u="none" strike="noStrike" cap="none" dirty="0">
                <a:solidFill>
                  <a:srgbClr val="1C2D52"/>
                </a:solidFill>
                <a:latin typeface="Montserrat"/>
                <a:ea typeface="Montserrat"/>
                <a:cs typeface="Montserrat"/>
                <a:sym typeface="Montserrat"/>
              </a:rPr>
              <a:t>No presenta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042670" y="7823183"/>
            <a:ext cx="3264900" cy="31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VALOR DE PROPIEDAD</a:t>
            </a:r>
            <a:endParaRPr sz="20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706060" y="8491252"/>
            <a:ext cx="37869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1C2D52"/>
                </a:solidFill>
                <a:latin typeface="Montserrat"/>
                <a:ea typeface="Montserrat"/>
                <a:cs typeface="Montserrat"/>
                <a:sym typeface="Montserrat"/>
              </a:rPr>
              <a:t>{{VALOR_PROPIEDAD}}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4711273" y="2179423"/>
            <a:ext cx="2880000" cy="1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Distrito:</a:t>
            </a:r>
          </a:p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{{DISTRITO_DETALLE}}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1088126" y="1166327"/>
            <a:ext cx="30324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INFORMACIÓN</a:t>
            </a:r>
            <a:endParaRPr sz="2600" b="1" i="0" u="none" strike="noStrike" cap="none">
              <a:solidFill>
                <a:srgbClr val="0524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2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DEL INMUEBLE</a:t>
            </a:r>
            <a:endParaRPr sz="2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4536666" y="1085850"/>
            <a:ext cx="30324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PROXIMIDAD</a:t>
            </a:r>
            <a:endParaRPr sz="2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92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COMERCIAL</a:t>
            </a:r>
            <a:endParaRPr sz="2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14638672" y="5993022"/>
            <a:ext cx="2980800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400" dirty="0"/>
              <a:t>{{PROXIMIDAD_1}}</a:t>
            </a:r>
            <a:br>
              <a:rPr lang="es-PE" sz="2800" dirty="0"/>
            </a:b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14690875" y="4986513"/>
            <a:ext cx="28602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8"/>
              <a:buFont typeface="Arial"/>
              <a:buNone/>
            </a:pPr>
            <a:r>
              <a:rPr lang="en-US" sz="2008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ESTABLECIMIENTOS CERCANOS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0" y="9461426"/>
            <a:ext cx="18285748" cy="825809"/>
          </a:xfrm>
          <a:custGeom>
            <a:avLst/>
            <a:gdLst/>
            <a:ahLst/>
            <a:cxnLst/>
            <a:rect l="l" t="t" r="r" b="b"/>
            <a:pathLst>
              <a:path w="4958847" h="223041" extrusionOk="0">
                <a:moveTo>
                  <a:pt x="0" y="0"/>
                </a:moveTo>
                <a:lnTo>
                  <a:pt x="4958847" y="0"/>
                </a:lnTo>
                <a:lnTo>
                  <a:pt x="4958847" y="223041"/>
                </a:lnTo>
                <a:lnTo>
                  <a:pt x="0" y="223041"/>
                </a:ln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6" name="Google Shape;196;p3"/>
          <p:cNvSpPr txBox="1"/>
          <p:nvPr/>
        </p:nvSpPr>
        <p:spPr>
          <a:xfrm>
            <a:off x="457726" y="9720921"/>
            <a:ext cx="26865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Monto de inversión: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6886037" y="9732240"/>
            <a:ext cx="2633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Esquemas y plazos: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3226637" y="9728064"/>
            <a:ext cx="1728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{{MONTO}}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9519068" y="9728652"/>
            <a:ext cx="3642033" cy="32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15048227" y="9732250"/>
            <a:ext cx="24027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@Creditomype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193;p3">
            <a:extLst>
              <a:ext uri="{FF2B5EF4-FFF2-40B4-BE49-F238E27FC236}">
                <a16:creationId xmlns:a16="http://schemas.microsoft.com/office/drawing/2014/main" id="{891296ED-6A03-4F47-AF00-E694DB01C513}"/>
              </a:ext>
            </a:extLst>
          </p:cNvPr>
          <p:cNvSpPr txBox="1"/>
          <p:nvPr/>
        </p:nvSpPr>
        <p:spPr>
          <a:xfrm>
            <a:off x="14630575" y="6812941"/>
            <a:ext cx="2980800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400" dirty="0"/>
              <a:t>{{PROXIMIDAD_2}}</a:t>
            </a:r>
            <a:br>
              <a:rPr lang="es-PE" sz="2800" dirty="0"/>
            </a:b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193;p3">
            <a:extLst>
              <a:ext uri="{FF2B5EF4-FFF2-40B4-BE49-F238E27FC236}">
                <a16:creationId xmlns:a16="http://schemas.microsoft.com/office/drawing/2014/main" id="{BE1761FD-E0C8-40F3-9B86-467E729C3997}"/>
              </a:ext>
            </a:extLst>
          </p:cNvPr>
          <p:cNvSpPr txBox="1"/>
          <p:nvPr/>
        </p:nvSpPr>
        <p:spPr>
          <a:xfrm>
            <a:off x="14638672" y="7606038"/>
            <a:ext cx="2980800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400" dirty="0"/>
              <a:t>{{PROXIMIDAD_3}}</a:t>
            </a:r>
            <a:br>
              <a:rPr lang="es-PE" sz="2800" dirty="0"/>
            </a:b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3BE3BF-29C2-461E-ACB7-16F98E55B9FC}"/>
              </a:ext>
            </a:extLst>
          </p:cNvPr>
          <p:cNvSpPr txBox="1"/>
          <p:nvPr/>
        </p:nvSpPr>
        <p:spPr>
          <a:xfrm>
            <a:off x="5086581" y="168700"/>
            <a:ext cx="9000000" cy="9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s-PE" dirty="0"/>
              <a:t>{{MAPA}}</a:t>
            </a:r>
            <a:br>
              <a:rPr lang="es-PE" dirty="0"/>
            </a:br>
            <a:endParaRPr lang="es-P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"/>
          <p:cNvGrpSpPr/>
          <p:nvPr/>
        </p:nvGrpSpPr>
        <p:grpSpPr>
          <a:xfrm>
            <a:off x="25" y="-52175"/>
            <a:ext cx="18288067" cy="576324"/>
            <a:chOff x="0" y="0"/>
            <a:chExt cx="5189429" cy="151788"/>
          </a:xfrm>
        </p:grpSpPr>
        <p:sp>
          <p:nvSpPr>
            <p:cNvPr id="206" name="Google Shape;206;p4"/>
            <p:cNvSpPr/>
            <p:nvPr/>
          </p:nvSpPr>
          <p:spPr>
            <a:xfrm>
              <a:off x="0" y="0"/>
              <a:ext cx="5189429" cy="151788"/>
            </a:xfrm>
            <a:custGeom>
              <a:avLst/>
              <a:gdLst/>
              <a:ahLst/>
              <a:cxnLst/>
              <a:rect l="l" t="t" r="r" b="b"/>
              <a:pathLst>
                <a:path w="5189429" h="151788" extrusionOk="0">
                  <a:moveTo>
                    <a:pt x="0" y="0"/>
                  </a:moveTo>
                  <a:lnTo>
                    <a:pt x="5189429" y="0"/>
                  </a:lnTo>
                  <a:lnTo>
                    <a:pt x="5189429" y="151788"/>
                  </a:lnTo>
                  <a:lnTo>
                    <a:pt x="0" y="151788"/>
                  </a:ln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7" name="Google Shape;207;p4"/>
            <p:cNvSpPr txBox="1"/>
            <p:nvPr/>
          </p:nvSpPr>
          <p:spPr>
            <a:xfrm>
              <a:off x="0" y="38100"/>
              <a:ext cx="5189429" cy="1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1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4"/>
          <p:cNvSpPr txBox="1"/>
          <p:nvPr/>
        </p:nvSpPr>
        <p:spPr>
          <a:xfrm>
            <a:off x="4603777" y="1251161"/>
            <a:ext cx="91665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FOTOS DEL INMUEBLE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4340525" y="1912150"/>
            <a:ext cx="9693000" cy="36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Distrito:  {{DISTRITO_DETALLE}}</a:t>
            </a:r>
            <a:endParaRPr sz="19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0" y="9461426"/>
            <a:ext cx="18285748" cy="825809"/>
          </a:xfrm>
          <a:custGeom>
            <a:avLst/>
            <a:gdLst/>
            <a:ahLst/>
            <a:cxnLst/>
            <a:rect l="l" t="t" r="r" b="b"/>
            <a:pathLst>
              <a:path w="4958847" h="223041" extrusionOk="0">
                <a:moveTo>
                  <a:pt x="0" y="0"/>
                </a:moveTo>
                <a:lnTo>
                  <a:pt x="4958847" y="0"/>
                </a:lnTo>
                <a:lnTo>
                  <a:pt x="4958847" y="223041"/>
                </a:lnTo>
                <a:lnTo>
                  <a:pt x="0" y="223041"/>
                </a:ln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4" name="Google Shape;214;p4"/>
          <p:cNvSpPr txBox="1"/>
          <p:nvPr/>
        </p:nvSpPr>
        <p:spPr>
          <a:xfrm>
            <a:off x="457726" y="9720921"/>
            <a:ext cx="26865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Monto de inversión: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6886037" y="9732240"/>
            <a:ext cx="2633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Esquemas y plazos: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3226637" y="9728064"/>
            <a:ext cx="1728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{{MONTO}}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9519069" y="9728652"/>
            <a:ext cx="30468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lang="en-US" sz="2104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15048227" y="9732250"/>
            <a:ext cx="24027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@Creditomype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4618C7-ACCE-4D02-AFA3-3307B50EBB76}"/>
              </a:ext>
            </a:extLst>
          </p:cNvPr>
          <p:cNvSpPr txBox="1"/>
          <p:nvPr/>
        </p:nvSpPr>
        <p:spPr>
          <a:xfrm>
            <a:off x="1510724" y="3817655"/>
            <a:ext cx="43200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{{FOTO1}}</a:t>
            </a:r>
            <a:br>
              <a:rPr lang="es-PE" dirty="0"/>
            </a:b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E07D659-7133-497A-9B1E-55C03A089E4D}"/>
              </a:ext>
            </a:extLst>
          </p:cNvPr>
          <p:cNvSpPr txBox="1"/>
          <p:nvPr/>
        </p:nvSpPr>
        <p:spPr>
          <a:xfrm>
            <a:off x="6982874" y="3817655"/>
            <a:ext cx="43200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{{FOTO2}}</a:t>
            </a:r>
            <a:br>
              <a:rPr lang="es-PE" dirty="0"/>
            </a:b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3319BB-700C-4BAE-BD1F-A5EBD94ED727}"/>
              </a:ext>
            </a:extLst>
          </p:cNvPr>
          <p:cNvSpPr txBox="1"/>
          <p:nvPr/>
        </p:nvSpPr>
        <p:spPr>
          <a:xfrm>
            <a:off x="12457276" y="3810332"/>
            <a:ext cx="4320000" cy="3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{{FOTO3}}</a:t>
            </a:r>
            <a:br>
              <a:rPr lang="es-PE" dirty="0"/>
            </a:br>
            <a:endParaRPr lang="es-P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5"/>
          <p:cNvGrpSpPr/>
          <p:nvPr/>
        </p:nvGrpSpPr>
        <p:grpSpPr>
          <a:xfrm>
            <a:off x="7777814" y="3197309"/>
            <a:ext cx="3904129" cy="1483207"/>
            <a:chOff x="0" y="-28575"/>
            <a:chExt cx="1700775" cy="646137"/>
          </a:xfrm>
        </p:grpSpPr>
        <p:sp>
          <p:nvSpPr>
            <p:cNvPr id="224" name="Google Shape;224;p5"/>
            <p:cNvSpPr/>
            <p:nvPr/>
          </p:nvSpPr>
          <p:spPr>
            <a:xfrm>
              <a:off x="0" y="0"/>
              <a:ext cx="1700774" cy="617562"/>
            </a:xfrm>
            <a:custGeom>
              <a:avLst/>
              <a:gdLst/>
              <a:ahLst/>
              <a:cxnLst/>
              <a:rect l="l" t="t" r="r" b="b"/>
              <a:pathLst>
                <a:path w="1700774" h="617562" extrusionOk="0">
                  <a:moveTo>
                    <a:pt x="49576" y="0"/>
                  </a:moveTo>
                  <a:lnTo>
                    <a:pt x="1651198" y="0"/>
                  </a:lnTo>
                  <a:cubicBezTo>
                    <a:pt x="1664347" y="0"/>
                    <a:pt x="1676957" y="5223"/>
                    <a:pt x="1686254" y="14520"/>
                  </a:cubicBezTo>
                  <a:cubicBezTo>
                    <a:pt x="1695551" y="23818"/>
                    <a:pt x="1700774" y="36428"/>
                    <a:pt x="1700774" y="49576"/>
                  </a:cubicBezTo>
                  <a:lnTo>
                    <a:pt x="1700774" y="567986"/>
                  </a:lnTo>
                  <a:cubicBezTo>
                    <a:pt x="1700774" y="595366"/>
                    <a:pt x="1678579" y="617562"/>
                    <a:pt x="1651198" y="617562"/>
                  </a:cubicBezTo>
                  <a:lnTo>
                    <a:pt x="49576" y="617562"/>
                  </a:lnTo>
                  <a:cubicBezTo>
                    <a:pt x="36428" y="617562"/>
                    <a:pt x="23818" y="612339"/>
                    <a:pt x="14520" y="603042"/>
                  </a:cubicBezTo>
                  <a:cubicBezTo>
                    <a:pt x="5223" y="593745"/>
                    <a:pt x="0" y="581135"/>
                    <a:pt x="0" y="567986"/>
                  </a:cubicBezTo>
                  <a:lnTo>
                    <a:pt x="0" y="49576"/>
                  </a:lnTo>
                  <a:cubicBezTo>
                    <a:pt x="0" y="36428"/>
                    <a:pt x="5223" y="23818"/>
                    <a:pt x="14520" y="14520"/>
                  </a:cubicBezTo>
                  <a:cubicBezTo>
                    <a:pt x="23818" y="5223"/>
                    <a:pt x="36428" y="0"/>
                    <a:pt x="49576" y="0"/>
                  </a:cubicBezTo>
                  <a:close/>
                </a:path>
              </a:pathLst>
            </a:custGeom>
            <a:solidFill>
              <a:srgbClr val="052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0" y="-28575"/>
              <a:ext cx="1700775" cy="6461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63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5"/>
          <p:cNvSpPr/>
          <p:nvPr/>
        </p:nvSpPr>
        <p:spPr>
          <a:xfrm>
            <a:off x="7944633" y="3730970"/>
            <a:ext cx="463975" cy="453530"/>
          </a:xfrm>
          <a:custGeom>
            <a:avLst/>
            <a:gdLst/>
            <a:ahLst/>
            <a:cxnLst/>
            <a:rect l="l" t="t" r="r" b="b"/>
            <a:pathLst>
              <a:path w="463975" h="453530" extrusionOk="0">
                <a:moveTo>
                  <a:pt x="0" y="0"/>
                </a:moveTo>
                <a:lnTo>
                  <a:pt x="463975" y="0"/>
                </a:lnTo>
                <a:lnTo>
                  <a:pt x="463975" y="453530"/>
                </a:lnTo>
                <a:lnTo>
                  <a:pt x="0" y="453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149" t="-12838" r="-5148"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27" name="Google Shape;227;p5"/>
          <p:cNvGrpSpPr/>
          <p:nvPr/>
        </p:nvGrpSpPr>
        <p:grpSpPr>
          <a:xfrm>
            <a:off x="7777814" y="4864881"/>
            <a:ext cx="3904129" cy="1483207"/>
            <a:chOff x="0" y="-28575"/>
            <a:chExt cx="1700775" cy="646137"/>
          </a:xfrm>
        </p:grpSpPr>
        <p:sp>
          <p:nvSpPr>
            <p:cNvPr id="228" name="Google Shape;228;p5"/>
            <p:cNvSpPr/>
            <p:nvPr/>
          </p:nvSpPr>
          <p:spPr>
            <a:xfrm>
              <a:off x="0" y="0"/>
              <a:ext cx="1700774" cy="617562"/>
            </a:xfrm>
            <a:custGeom>
              <a:avLst/>
              <a:gdLst/>
              <a:ahLst/>
              <a:cxnLst/>
              <a:rect l="l" t="t" r="r" b="b"/>
              <a:pathLst>
                <a:path w="1700774" h="617562" extrusionOk="0">
                  <a:moveTo>
                    <a:pt x="49576" y="0"/>
                  </a:moveTo>
                  <a:lnTo>
                    <a:pt x="1651198" y="0"/>
                  </a:lnTo>
                  <a:cubicBezTo>
                    <a:pt x="1664347" y="0"/>
                    <a:pt x="1676957" y="5223"/>
                    <a:pt x="1686254" y="14520"/>
                  </a:cubicBezTo>
                  <a:cubicBezTo>
                    <a:pt x="1695551" y="23818"/>
                    <a:pt x="1700774" y="36428"/>
                    <a:pt x="1700774" y="49576"/>
                  </a:cubicBezTo>
                  <a:lnTo>
                    <a:pt x="1700774" y="567986"/>
                  </a:lnTo>
                  <a:cubicBezTo>
                    <a:pt x="1700774" y="595366"/>
                    <a:pt x="1678579" y="617562"/>
                    <a:pt x="1651198" y="617562"/>
                  </a:cubicBezTo>
                  <a:lnTo>
                    <a:pt x="49576" y="617562"/>
                  </a:lnTo>
                  <a:cubicBezTo>
                    <a:pt x="36428" y="617562"/>
                    <a:pt x="23818" y="612339"/>
                    <a:pt x="14520" y="603042"/>
                  </a:cubicBezTo>
                  <a:cubicBezTo>
                    <a:pt x="5223" y="593745"/>
                    <a:pt x="0" y="581135"/>
                    <a:pt x="0" y="567986"/>
                  </a:cubicBezTo>
                  <a:lnTo>
                    <a:pt x="0" y="49576"/>
                  </a:lnTo>
                  <a:cubicBezTo>
                    <a:pt x="0" y="36428"/>
                    <a:pt x="5223" y="23818"/>
                    <a:pt x="14520" y="14520"/>
                  </a:cubicBezTo>
                  <a:cubicBezTo>
                    <a:pt x="23818" y="5223"/>
                    <a:pt x="36428" y="0"/>
                    <a:pt x="49576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0" y="-28575"/>
              <a:ext cx="1700775" cy="6461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63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5"/>
          <p:cNvSpPr/>
          <p:nvPr/>
        </p:nvSpPr>
        <p:spPr>
          <a:xfrm>
            <a:off x="12061050" y="4941750"/>
            <a:ext cx="3903276" cy="1377163"/>
          </a:xfrm>
          <a:custGeom>
            <a:avLst/>
            <a:gdLst/>
            <a:ahLst/>
            <a:cxnLst/>
            <a:rect l="l" t="t" r="r" b="b"/>
            <a:pathLst>
              <a:path w="1700774" h="617562" extrusionOk="0">
                <a:moveTo>
                  <a:pt x="49576" y="0"/>
                </a:moveTo>
                <a:lnTo>
                  <a:pt x="1651198" y="0"/>
                </a:lnTo>
                <a:cubicBezTo>
                  <a:pt x="1664347" y="0"/>
                  <a:pt x="1676957" y="5223"/>
                  <a:pt x="1686254" y="14520"/>
                </a:cubicBezTo>
                <a:cubicBezTo>
                  <a:pt x="1695551" y="23818"/>
                  <a:pt x="1700774" y="36428"/>
                  <a:pt x="1700774" y="49576"/>
                </a:cubicBezTo>
                <a:lnTo>
                  <a:pt x="1700774" y="567986"/>
                </a:lnTo>
                <a:cubicBezTo>
                  <a:pt x="1700774" y="595366"/>
                  <a:pt x="1678579" y="617562"/>
                  <a:pt x="1651198" y="617562"/>
                </a:cubicBezTo>
                <a:lnTo>
                  <a:pt x="49576" y="617562"/>
                </a:lnTo>
                <a:cubicBezTo>
                  <a:pt x="36428" y="617562"/>
                  <a:pt x="23818" y="612339"/>
                  <a:pt x="14520" y="603042"/>
                </a:cubicBezTo>
                <a:cubicBezTo>
                  <a:pt x="5223" y="593745"/>
                  <a:pt x="0" y="581135"/>
                  <a:pt x="0" y="567986"/>
                </a:cubicBezTo>
                <a:lnTo>
                  <a:pt x="0" y="49576"/>
                </a:lnTo>
                <a:cubicBezTo>
                  <a:pt x="0" y="36428"/>
                  <a:pt x="5223" y="23818"/>
                  <a:pt x="14520" y="14520"/>
                </a:cubicBezTo>
                <a:cubicBezTo>
                  <a:pt x="23818" y="5223"/>
                  <a:pt x="36428" y="0"/>
                  <a:pt x="49576" y="0"/>
                </a:cubicBez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944633" y="5395551"/>
            <a:ext cx="463975" cy="463975"/>
          </a:xfrm>
          <a:custGeom>
            <a:avLst/>
            <a:gdLst/>
            <a:ahLst/>
            <a:cxnLst/>
            <a:rect l="l" t="t" r="r" b="b"/>
            <a:pathLst>
              <a:path w="463975" h="463975" extrusionOk="0">
                <a:moveTo>
                  <a:pt x="0" y="0"/>
                </a:moveTo>
                <a:lnTo>
                  <a:pt x="463975" y="0"/>
                </a:lnTo>
                <a:lnTo>
                  <a:pt x="463975" y="463975"/>
                </a:lnTo>
                <a:lnTo>
                  <a:pt x="0" y="463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32" name="Google Shape;232;p5"/>
          <p:cNvGrpSpPr/>
          <p:nvPr/>
        </p:nvGrpSpPr>
        <p:grpSpPr>
          <a:xfrm>
            <a:off x="12061041" y="3197309"/>
            <a:ext cx="3904129" cy="1483207"/>
            <a:chOff x="0" y="-28575"/>
            <a:chExt cx="1700775" cy="646137"/>
          </a:xfrm>
        </p:grpSpPr>
        <p:sp>
          <p:nvSpPr>
            <p:cNvPr id="233" name="Google Shape;233;p5"/>
            <p:cNvSpPr/>
            <p:nvPr/>
          </p:nvSpPr>
          <p:spPr>
            <a:xfrm>
              <a:off x="0" y="0"/>
              <a:ext cx="1700774" cy="617562"/>
            </a:xfrm>
            <a:custGeom>
              <a:avLst/>
              <a:gdLst/>
              <a:ahLst/>
              <a:cxnLst/>
              <a:rect l="l" t="t" r="r" b="b"/>
              <a:pathLst>
                <a:path w="1700774" h="617562" extrusionOk="0">
                  <a:moveTo>
                    <a:pt x="49576" y="0"/>
                  </a:moveTo>
                  <a:lnTo>
                    <a:pt x="1651198" y="0"/>
                  </a:lnTo>
                  <a:cubicBezTo>
                    <a:pt x="1664347" y="0"/>
                    <a:pt x="1676957" y="5223"/>
                    <a:pt x="1686254" y="14520"/>
                  </a:cubicBezTo>
                  <a:cubicBezTo>
                    <a:pt x="1695551" y="23818"/>
                    <a:pt x="1700774" y="36428"/>
                    <a:pt x="1700774" y="49576"/>
                  </a:cubicBezTo>
                  <a:lnTo>
                    <a:pt x="1700774" y="567986"/>
                  </a:lnTo>
                  <a:cubicBezTo>
                    <a:pt x="1700774" y="595366"/>
                    <a:pt x="1678579" y="617562"/>
                    <a:pt x="1651198" y="617562"/>
                  </a:cubicBezTo>
                  <a:lnTo>
                    <a:pt x="49576" y="617562"/>
                  </a:lnTo>
                  <a:cubicBezTo>
                    <a:pt x="36428" y="617562"/>
                    <a:pt x="23818" y="612339"/>
                    <a:pt x="14520" y="603042"/>
                  </a:cubicBezTo>
                  <a:cubicBezTo>
                    <a:pt x="5223" y="593745"/>
                    <a:pt x="0" y="581135"/>
                    <a:pt x="0" y="567986"/>
                  </a:cubicBezTo>
                  <a:lnTo>
                    <a:pt x="0" y="49576"/>
                  </a:lnTo>
                  <a:cubicBezTo>
                    <a:pt x="0" y="36428"/>
                    <a:pt x="5223" y="23818"/>
                    <a:pt x="14520" y="14520"/>
                  </a:cubicBezTo>
                  <a:cubicBezTo>
                    <a:pt x="23818" y="5223"/>
                    <a:pt x="36428" y="0"/>
                    <a:pt x="49576" y="0"/>
                  </a:cubicBez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0" y="-28575"/>
              <a:ext cx="1700775" cy="6461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63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5"/>
          <p:cNvSpPr/>
          <p:nvPr/>
        </p:nvSpPr>
        <p:spPr>
          <a:xfrm>
            <a:off x="12277703" y="3691929"/>
            <a:ext cx="463975" cy="463975"/>
          </a:xfrm>
          <a:custGeom>
            <a:avLst/>
            <a:gdLst/>
            <a:ahLst/>
            <a:cxnLst/>
            <a:rect l="l" t="t" r="r" b="b"/>
            <a:pathLst>
              <a:path w="463975" h="463975" extrusionOk="0">
                <a:moveTo>
                  <a:pt x="0" y="0"/>
                </a:moveTo>
                <a:lnTo>
                  <a:pt x="463975" y="0"/>
                </a:lnTo>
                <a:lnTo>
                  <a:pt x="463975" y="463974"/>
                </a:lnTo>
                <a:lnTo>
                  <a:pt x="0" y="463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6" name="Google Shape;236;p5"/>
          <p:cNvSpPr/>
          <p:nvPr/>
        </p:nvSpPr>
        <p:spPr>
          <a:xfrm>
            <a:off x="12337477" y="5363649"/>
            <a:ext cx="468455" cy="491632"/>
          </a:xfrm>
          <a:custGeom>
            <a:avLst/>
            <a:gdLst/>
            <a:ahLst/>
            <a:cxnLst/>
            <a:rect l="l" t="t" r="r" b="b"/>
            <a:pathLst>
              <a:path w="490529" h="491632" extrusionOk="0">
                <a:moveTo>
                  <a:pt x="0" y="0"/>
                </a:moveTo>
                <a:lnTo>
                  <a:pt x="490530" y="0"/>
                </a:lnTo>
                <a:lnTo>
                  <a:pt x="490530" y="491632"/>
                </a:lnTo>
                <a:lnTo>
                  <a:pt x="0" y="49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7" name="Google Shape;237;p5"/>
          <p:cNvSpPr txBox="1"/>
          <p:nvPr/>
        </p:nvSpPr>
        <p:spPr>
          <a:xfrm>
            <a:off x="8557975" y="3656750"/>
            <a:ext cx="31239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Monto de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Inversión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{{MONTO}}</a:t>
            </a:r>
            <a:endParaRPr sz="20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8557979" y="5283975"/>
            <a:ext cx="29604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Utilidad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{{UTILIDAD}}</a:t>
            </a:r>
            <a:endParaRPr sz="20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2952071" y="5280685"/>
            <a:ext cx="2908200" cy="76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Tasa de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interés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1959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PE" sz="20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{{TASA}}</a:t>
            </a:r>
            <a:endParaRPr sz="20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2841201" y="3614175"/>
            <a:ext cx="31239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Modalidad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cuota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sz="20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5"/>
          <p:cNvSpPr/>
          <p:nvPr/>
        </p:nvSpPr>
        <p:spPr>
          <a:xfrm rot="8430059">
            <a:off x="15630361" y="-866015"/>
            <a:ext cx="2424245" cy="4764013"/>
          </a:xfrm>
          <a:custGeom>
            <a:avLst/>
            <a:gdLst/>
            <a:ahLst/>
            <a:cxnLst/>
            <a:rect l="l" t="t" r="r" b="b"/>
            <a:pathLst>
              <a:path w="2424245" h="4764013" extrusionOk="0">
                <a:moveTo>
                  <a:pt x="0" y="0"/>
                </a:moveTo>
                <a:lnTo>
                  <a:pt x="2424245" y="0"/>
                </a:lnTo>
                <a:lnTo>
                  <a:pt x="2424245" y="4764012"/>
                </a:lnTo>
                <a:lnTo>
                  <a:pt x="0" y="4764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42" name="Google Shape;242;p5"/>
          <p:cNvGrpSpPr/>
          <p:nvPr/>
        </p:nvGrpSpPr>
        <p:grpSpPr>
          <a:xfrm>
            <a:off x="0" y="-52175"/>
            <a:ext cx="18288067" cy="576324"/>
            <a:chOff x="0" y="0"/>
            <a:chExt cx="5189429" cy="151788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5189429" cy="151788"/>
            </a:xfrm>
            <a:custGeom>
              <a:avLst/>
              <a:gdLst/>
              <a:ahLst/>
              <a:cxnLst/>
              <a:rect l="l" t="t" r="r" b="b"/>
              <a:pathLst>
                <a:path w="5189429" h="151788" extrusionOk="0">
                  <a:moveTo>
                    <a:pt x="0" y="0"/>
                  </a:moveTo>
                  <a:lnTo>
                    <a:pt x="5189429" y="0"/>
                  </a:lnTo>
                  <a:lnTo>
                    <a:pt x="5189429" y="151788"/>
                  </a:lnTo>
                  <a:lnTo>
                    <a:pt x="0" y="151788"/>
                  </a:lnTo>
                  <a:close/>
                </a:path>
              </a:pathLst>
            </a:custGeom>
            <a:solidFill>
              <a:srgbClr val="45B17F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38100"/>
              <a:ext cx="5189429" cy="113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1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5"/>
          <p:cNvSpPr/>
          <p:nvPr/>
        </p:nvSpPr>
        <p:spPr>
          <a:xfrm>
            <a:off x="194376" y="4407181"/>
            <a:ext cx="5467083" cy="5054241"/>
          </a:xfrm>
          <a:custGeom>
            <a:avLst/>
            <a:gdLst/>
            <a:ahLst/>
            <a:cxnLst/>
            <a:rect l="l" t="t" r="r" b="b"/>
            <a:pathLst>
              <a:path w="5467083" h="5054241" extrusionOk="0">
                <a:moveTo>
                  <a:pt x="0" y="0"/>
                </a:moveTo>
                <a:lnTo>
                  <a:pt x="5467082" y="0"/>
                </a:lnTo>
                <a:lnTo>
                  <a:pt x="5467082" y="5054241"/>
                </a:lnTo>
                <a:lnTo>
                  <a:pt x="0" y="5054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1475" r="-1474" b="-11364"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6" name="Google Shape;246;p5"/>
          <p:cNvSpPr txBox="1"/>
          <p:nvPr/>
        </p:nvSpPr>
        <p:spPr>
          <a:xfrm>
            <a:off x="4560727" y="1678834"/>
            <a:ext cx="91665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52453"/>
                </a:solidFill>
                <a:latin typeface="Montserrat"/>
                <a:ea typeface="Montserrat"/>
                <a:cs typeface="Montserrat"/>
                <a:sym typeface="Montserrat"/>
              </a:rPr>
              <a:t>RENTABILIDAD DE LA INVERSIÓN</a:t>
            </a:r>
            <a:endParaRPr sz="3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0" y="9461426"/>
            <a:ext cx="18285748" cy="825809"/>
          </a:xfrm>
          <a:custGeom>
            <a:avLst/>
            <a:gdLst/>
            <a:ahLst/>
            <a:cxnLst/>
            <a:rect l="l" t="t" r="r" b="b"/>
            <a:pathLst>
              <a:path w="4958847" h="223041" extrusionOk="0">
                <a:moveTo>
                  <a:pt x="0" y="0"/>
                </a:moveTo>
                <a:lnTo>
                  <a:pt x="4958847" y="0"/>
                </a:lnTo>
                <a:lnTo>
                  <a:pt x="4958847" y="223041"/>
                </a:lnTo>
                <a:lnTo>
                  <a:pt x="0" y="223041"/>
                </a:lnTo>
                <a:close/>
              </a:path>
            </a:pathLst>
          </a:custGeom>
          <a:solidFill>
            <a:srgbClr val="05245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8" name="Google Shape;248;p5"/>
          <p:cNvSpPr txBox="1"/>
          <p:nvPr/>
        </p:nvSpPr>
        <p:spPr>
          <a:xfrm>
            <a:off x="457726" y="9720921"/>
            <a:ext cx="26865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Monto de inversión: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6886037" y="9732240"/>
            <a:ext cx="26331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Esquemas y plazos: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3226637" y="9728064"/>
            <a:ext cx="1728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{{MONTO}}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9519069" y="9728652"/>
            <a:ext cx="30468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lang="en-US" sz="2104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{{MODALIDAD}}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15048227" y="9732250"/>
            <a:ext cx="24027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4"/>
              <a:buFont typeface="Arial"/>
              <a:buNone/>
            </a:pPr>
            <a:r>
              <a:rPr lang="en-US" sz="20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@Creditomype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453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6520122" y="4731332"/>
            <a:ext cx="5247757" cy="824335"/>
          </a:xfrm>
          <a:custGeom>
            <a:avLst/>
            <a:gdLst/>
            <a:ahLst/>
            <a:cxnLst/>
            <a:rect l="l" t="t" r="r" b="b"/>
            <a:pathLst>
              <a:path w="5247757" h="824335" extrusionOk="0">
                <a:moveTo>
                  <a:pt x="0" y="0"/>
                </a:moveTo>
                <a:lnTo>
                  <a:pt x="5247756" y="0"/>
                </a:lnTo>
                <a:lnTo>
                  <a:pt x="5247756" y="824336"/>
                </a:lnTo>
                <a:lnTo>
                  <a:pt x="0" y="82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8" name="Google Shape;258;p6"/>
          <p:cNvSpPr txBox="1"/>
          <p:nvPr/>
        </p:nvSpPr>
        <p:spPr>
          <a:xfrm>
            <a:off x="4231332" y="5881145"/>
            <a:ext cx="9825300" cy="6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 err="1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Registrados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700" b="0" i="0" u="none" strike="noStrike" cap="none" dirty="0" err="1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Superintendencia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Banca y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Seguros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</a:t>
            </a:r>
            <a:r>
              <a:rPr lang="en-US" sz="1700" b="1" i="0" u="none" strike="noStrike" cap="none" dirty="0">
                <a:solidFill>
                  <a:schemeClr val="bg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SBS 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Resolución</a:t>
            </a:r>
            <a:r>
              <a:rPr lang="en-US" sz="1700" b="0" i="0" u="none" strike="noStrike" cap="none" dirty="0">
                <a:solidFill>
                  <a:schemeClr val="bg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N° 01144 - 2023)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Conoce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nosotros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Creditomype.com/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inversiones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265</Words>
  <Application>Microsoft Office PowerPoint</Application>
  <PresentationFormat>Personalizado</PresentationFormat>
  <Paragraphs>74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 Unicode MS</vt:lpstr>
      <vt:lpstr>Arial</vt:lpstr>
      <vt:lpstr>Montserrat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Pedro Manuel Trujillo Tasaico</cp:lastModifiedBy>
  <cp:revision>13</cp:revision>
  <dcterms:created xsi:type="dcterms:W3CDTF">2006-08-16T00:00:00Z</dcterms:created>
  <dcterms:modified xsi:type="dcterms:W3CDTF">2026-05-19T03:44:29Z</dcterms:modified>
</cp:coreProperties>
</file>